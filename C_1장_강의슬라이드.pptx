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3e996ee4-bce3-fdec-7434-8892f08f76cd}">
          <p14:sldIdLst>
            <p14:sldId id="256"/>
            <p14:sldId id="257"/>
            <p14:sldId id="258"/>
          </p14:sldIdLst>
        </p14:section>
        <p14:section name="1.1 C++의 역사와 특징" id="{00c5b08a-6153-1a18-46cd-301f291b76e3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1.2 컴파일 과정" id="{ac82ac92-80fe-c14b-8452-8353217615eb}">
          <p14:sldIdLst>
            <p14:sldId id="265"/>
            <p14:sldId id="266"/>
            <p14:sldId id="267"/>
            <p14:sldId id="268"/>
            <p14:sldId id="269"/>
          </p14:sldIdLst>
        </p14:section>
        <p14:section name="1.3 개발 환경 구축" id="{630fc333-6ccd-9924-eaf4-98a8a862a4ea}">
          <p14:sldIdLst>
            <p14:sldId id="270"/>
            <p14:sldId id="271"/>
            <p14:sldId id="272"/>
            <p14:sldId id="273"/>
            <p14:sldId id="274"/>
          </p14:sldIdLst>
        </p14:section>
        <p14:section name="1.4 첫 번째 프로그램" id="{f5429cbf-281f-4780-7453-c7dee32951ca}">
          <p14:sldIdLst>
            <p14:sldId id="275"/>
            <p14:sldId id="276"/>
            <p14:sldId id="277"/>
            <p14:sldId id="278"/>
            <p14:sldId id="279"/>
          </p14:sldIdLst>
        </p14:section>
        <p14:section name="정리와 연습문제" id="{a10fdd3f-a77a-e944-4b08-ea3738a42fd7}">
          <p14:sldIdLst>
            <p14:sldId id="280"/>
            <p14:sldId id="281"/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1장에서는 C++가 어떤 언어인지, 코드가 어떻게 실행 파일이 되는지, 개발 도구를 어떻게 준비하는지 살펴보고, 마지막에 Hello, World! 프로그램을 직접 만들어 실행합니다.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가지 목표를 먼저 보여 주고, 장을 마칠 때 다시 확인합니다. 모르는 용어가 나와도 괜찮다고 안심시켜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특히 컴파일러는 이 장의 핵심 단어입니다. '번역가'라는 이미지를 먼저 심어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스트롭스트룹은 덴마크 출신으로, 당시 널리 쓰이던 C의 속도를 유지하면서 큰 프로그램을 만들기 쉬운 기능을 더하려 했습니다. 이름의 ++는 C의 증가 연산자에서 온 재치 있는 이름입니다.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C++98과 C++11 사이에는 13년의 공백이 있었고, C++11부터 3년 주기가 자리 잡았습니다. 오래된 자료에서 다른 문법을 보면 예전 표준일 수 있다고 알려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메모리를 직접 다룰 수 있다는 점은 장점이자 위험입니다. 이 교재는 14장에서 안전하게 다루는 방법(스마트 포인터)을 배웁니다.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절차지향은 지금부터 5장까지, 객체지향은 6~10장, 일반화 프로그래밍은 11~12장에서 배웁니다. 교재 전체의 지도로 활용하세요.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학생들이 아는 게임이나 프로그램을 예로 들어 보게 하면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요리책 비유: 한국어 요리책(소스 코드)을 번역가(컴파일러)가 프랑스어 요리책(실행 파일)으로 옮기면, 프랑스 요리사(CPU)가 그대로 요리합니다.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단계의 결과물(펼쳐진 코드, 어셈블리어, 목적 파일, 실행 파일)을 함께 말해 주면 흐름이 잘 잡힙니다. 컴파일 오류는 2단계, 링크 오류는 4단계에서 난다는 점을 강조하세요.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#include는 메뉴판을 가져와서 '이 기능을 쓸 테니 알려 달라'고 하는 것과 같습니다.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오류를 두려워하지 않게 하는 것이 이 슬라이드의 목표입니다. 1.4절 끝에서 일부러 오류를 내 보는 실습과 연결됩니다.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학생들의 운영체제를 먼저 물어보고, 윈도우라면 Visual Studio(MSVC), macOS라면 Xcode(Clang)를 권합니다.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교재는 윈도우의 Visual Studio Community를 기본 환경으로 합니다. 설치가 어려운 학생은 온라인 컴파일러로 먼저 시작해도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수업 전에 미리 설치를 과제로 내 주면 시간을 아낄 수 있습니다. 2단계 워크로드 선택을 빠뜨리는 학생이 가장 많습니다.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명령어 방식은 선택 사항입니다. 1.2절의 컴파일 과정을 실제로 확인하는 용도로 시연하면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학생들이 직접 타이핑하게 하세요. 복사-붙여넣기보다 직접 입력하면서 세미콜론과 괄호를 몸으로 익히는 것이 중요합니다.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std::cout은 '씨-아웃'으로 읽습니다. &lt;&lt; 연산자는 화살표 방향으로 내용이 흘러간다고 설명하면 쉽게 이해합니다. 함수는 4장에서 자세히 배운다고 예고하세요.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namespace std;는 인터넷 예제에서 자주 보이지만, 처음부터 std::를 붙이는 습관을 들이도록 안내합니다.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 시간: 하나씩 바꿔 빌드하고, 오류 메시지를 읽은 다음 원래대로 고치게 합니다. 3번은 컴파일은 되지만 링크 단계에서 main을 못 찾아 오류가 난다는 점이 포인트입니다.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 목표 네 가지와 연결해서 정리합니다.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7번 정답: 첫 줄 끝 세미콜론 누락, std::Cout → std::cout(대소문자). 과제 2의 삼각형은 오른쪽 예시처럼 4줄입니다.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시간 전에 개발 환경 설치를 끝내 오도록 안내합니다.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011680"/>
            <a:ext cx="106984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C++ 프로그래밍 · 1장 C++ 개요와 개발 환경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C++ 개요와 개발 환경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C++ 프로그래밍 1장 · 첫 프로그램을 만들기까지</a:t>
            </a:r>
            <a:endParaRPr lang="en-US" sz="2000" dirty="0"/>
          </a:p>
        </p:txBody>
      </p:sp>
      <p:sp>
        <p:nvSpPr>
          <p:cNvPr id="4" name="motif"/>
          <p:cNvSpPr txBox="1"/>
          <p:nvPr/>
        </p:nvSpPr>
        <p:spPr>
          <a:xfrm>
            <a:off x="73152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</a:t>
            </a:r>
            <a:pPr indent="0" marL="0">
              <a:buNone/>
            </a:pPr>
            <a:r>
              <a:rPr lang="en-US" sz="200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&lt;iostream&gt;</a:t>
            </a:r>
            <a:endParaRPr lang="en-US" sz="2000" dirty="0"/>
          </a:p>
        </p:txBody>
      </p:sp>
      <p:sp>
        <p:nvSpPr>
          <p:cNvPr id="5" name="motif-out"/>
          <p:cNvSpPr txBox="1"/>
          <p:nvPr/>
        </p:nvSpPr>
        <p:spPr>
          <a:xfrm>
            <a:off x="731520" y="5120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Hello, World!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이 장의 학습 목표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554480"/>
            <a:ext cx="2578608" cy="393192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</p:spPr>
      </p:sp>
      <p:sp>
        <p:nvSpPr>
          <p:cNvPr id="4" name="icon-bg"/>
          <p:cNvSpPr/>
          <p:nvPr/>
        </p:nvSpPr>
        <p:spPr>
          <a:xfrm>
            <a:off x="868680" y="1874520"/>
            <a:ext cx="822960" cy="822960"/>
          </a:xfrm>
          <a:prstGeom prst="ellipse">
            <a:avLst/>
          </a:prstGeom>
          <a:solidFill>
            <a:srgbClr val="E8833A"/>
          </a:solidFill>
          <a:ln/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0802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971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5"/>
                </a:solidFill>
              </a:rPr>
              <a:t>01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611880"/>
            <a:ext cx="1965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C++가 어떤 언어이고 어디에 쓰이는지 설명할 수 있다.</a:t>
            </a:r>
            <a:endParaRPr lang="en-US" sz="1700" dirty="0"/>
          </a:p>
        </p:txBody>
      </p:sp>
      <p:sp>
        <p:nvSpPr>
          <p:cNvPr id="8" name="card"/>
          <p:cNvSpPr/>
          <p:nvPr/>
        </p:nvSpPr>
        <p:spPr>
          <a:xfrm>
            <a:off x="3364992" y="1554480"/>
            <a:ext cx="2578608" cy="393192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</p:spPr>
      </p:sp>
      <p:sp>
        <p:nvSpPr>
          <p:cNvPr id="9" name="icon-bg"/>
          <p:cNvSpPr/>
          <p:nvPr/>
        </p:nvSpPr>
        <p:spPr>
          <a:xfrm>
            <a:off x="3685032" y="1874520"/>
            <a:ext cx="822960" cy="822960"/>
          </a:xfrm>
          <a:prstGeom prst="ellipse">
            <a:avLst/>
          </a:prstGeom>
          <a:solidFill>
            <a:srgbClr val="2F8F83"/>
          </a:solidFill>
          <a:ln/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0772" y="208026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85032" y="2971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5"/>
                </a:solidFill>
              </a:rPr>
              <a:t>02</a:t>
            </a: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3685032" y="3611880"/>
            <a:ext cx="1965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코드가 실행 파일이 되기까지의 과정을 이해한다.</a:t>
            </a:r>
            <a:endParaRPr lang="en-US" sz="1700" dirty="0"/>
          </a:p>
        </p:txBody>
      </p:sp>
      <p:sp>
        <p:nvSpPr>
          <p:cNvPr id="13" name="card"/>
          <p:cNvSpPr/>
          <p:nvPr/>
        </p:nvSpPr>
        <p:spPr>
          <a:xfrm>
            <a:off x="6181344" y="1554480"/>
            <a:ext cx="2578608" cy="393192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</p:spPr>
      </p:sp>
      <p:sp>
        <p:nvSpPr>
          <p:cNvPr id="14" name="icon-bg"/>
          <p:cNvSpPr/>
          <p:nvPr/>
        </p:nvSpPr>
        <p:spPr>
          <a:xfrm>
            <a:off x="6501384" y="1874520"/>
            <a:ext cx="822960" cy="822960"/>
          </a:xfrm>
          <a:prstGeom prst="ellipse">
            <a:avLst/>
          </a:prstGeom>
          <a:solidFill>
            <a:srgbClr val="E8833A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7124" y="208026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01384" y="2971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5"/>
                </a:solidFill>
              </a:rPr>
              <a:t>03</a:t>
            </a:r>
            <a:endParaRPr lang="en-US" sz="2800" dirty="0"/>
          </a:p>
        </p:txBody>
      </p:sp>
      <p:sp>
        <p:nvSpPr>
          <p:cNvPr id="17" name="Text 12"/>
          <p:cNvSpPr txBox="1"/>
          <p:nvPr/>
        </p:nvSpPr>
        <p:spPr>
          <a:xfrm>
            <a:off x="6501384" y="3611880"/>
            <a:ext cx="1965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컴파일러와 개발 도구(IDE)를 설치하고 사용할 수 있다.</a:t>
            </a:r>
            <a:endParaRPr lang="en-US" sz="1700" dirty="0"/>
          </a:p>
        </p:txBody>
      </p:sp>
      <p:sp>
        <p:nvSpPr>
          <p:cNvPr id="18" name="card"/>
          <p:cNvSpPr/>
          <p:nvPr/>
        </p:nvSpPr>
        <p:spPr>
          <a:xfrm>
            <a:off x="8997696" y="1554480"/>
            <a:ext cx="2578608" cy="393192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</p:spPr>
      </p:sp>
      <p:sp>
        <p:nvSpPr>
          <p:cNvPr id="19" name="icon-bg"/>
          <p:cNvSpPr/>
          <p:nvPr/>
        </p:nvSpPr>
        <p:spPr>
          <a:xfrm>
            <a:off x="9317736" y="1874520"/>
            <a:ext cx="822960" cy="822960"/>
          </a:xfrm>
          <a:prstGeom prst="ellipse">
            <a:avLst/>
          </a:prstGeom>
          <a:solidFill>
            <a:srgbClr val="2F8F83"/>
          </a:solidFill>
          <a:ln/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3476" y="208026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17736" y="2971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5"/>
                </a:solidFill>
              </a:rPr>
              <a:t>04</a:t>
            </a:r>
            <a:endParaRPr lang="en-US" sz="2800" dirty="0"/>
          </a:p>
        </p:txBody>
      </p:sp>
      <p:sp>
        <p:nvSpPr>
          <p:cNvPr id="22" name="Text 16"/>
          <p:cNvSpPr txBox="1"/>
          <p:nvPr/>
        </p:nvSpPr>
        <p:spPr>
          <a:xfrm>
            <a:off x="9317736" y="3611880"/>
            <a:ext cx="1965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간단한 C++ 프로그램을 작성하고 실행할 수 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미리 알아 둘 용어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463040"/>
            <a:ext cx="349300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7373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프로그램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33172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컴퓨터가 할 일을 순서대로 적어 놓은 명령의 모음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4279392" y="1463040"/>
            <a:ext cx="349300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99432" y="17373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프로그래밍 언어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4599432" y="233172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사람이 컴퓨터에게 명령을 적기 위해 쓰는 약속된 언어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8010144" y="1463040"/>
            <a:ext cx="349300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30184" y="17373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소스 코드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8330184" y="233172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사람이 작성한 코드. C++에서는 보통 .cpp 파일에 저장</a:t>
            </a:r>
            <a:endParaRPr 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548640" y="3794760"/>
            <a:ext cx="349300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40690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컴파일러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6634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소스 코드를 기계어로 바꿔 주는 번역 프로그램</a:t>
            </a:r>
            <a:endParaRPr lang="en-US" sz="1500" dirty="0"/>
          </a:p>
        </p:txBody>
      </p:sp>
      <p:sp>
        <p:nvSpPr>
          <p:cNvPr id="15" name="card"/>
          <p:cNvSpPr/>
          <p:nvPr/>
        </p:nvSpPr>
        <p:spPr>
          <a:xfrm>
            <a:off x="4279392" y="3794760"/>
            <a:ext cx="349300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99432" y="40690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실행 파일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4599432" y="46634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바로 실행할 수 있는 파일. 윈도우에서는 .exe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8010144" y="3794760"/>
            <a:ext cx="349300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30184" y="40690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IDE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8330184" y="46634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작성·번역·실행·오류 찾기를 한 화면에 모은 도구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0116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1.1</a:t>
            </a:r>
            <a:endParaRPr lang="en-US" sz="2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C++의 역사와 특징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C++는 어떻게 태어났나</a:t>
            </a:r>
            <a:endParaRPr lang="en-US" sz="3000" dirty="0"/>
          </a:p>
        </p:txBody>
      </p:sp>
      <p:sp>
        <p:nvSpPr>
          <p:cNvPr id="3" name="timeline"/>
          <p:cNvSpPr/>
          <p:nvPr/>
        </p:nvSpPr>
        <p:spPr>
          <a:xfrm>
            <a:off x="1005840" y="2240280"/>
            <a:ext cx="603504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4" name="dot"/>
          <p:cNvSpPr/>
          <p:nvPr/>
        </p:nvSpPr>
        <p:spPr>
          <a:xfrm>
            <a:off x="868680" y="2011680"/>
            <a:ext cx="457200" cy="4572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1979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97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개발 시작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004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비야네 스트롭스트룹이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벨 연구소에서 시작</a:t>
            </a:r>
            <a:endParaRPr lang="en-US" sz="1400" dirty="0"/>
          </a:p>
        </p:txBody>
      </p:sp>
      <p:sp>
        <p:nvSpPr>
          <p:cNvPr id="8" name="dot"/>
          <p:cNvSpPr/>
          <p:nvPr/>
        </p:nvSpPr>
        <p:spPr>
          <a:xfrm>
            <a:off x="3200400" y="2011680"/>
            <a:ext cx="457200" cy="4572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80360" y="1325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1983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2880360" y="2697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이름 C++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880360" y="32004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"C with Classes"에서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지금의 이름으로</a:t>
            </a:r>
            <a:endParaRPr lang="en-US" sz="1400" dirty="0"/>
          </a:p>
        </p:txBody>
      </p:sp>
      <p:sp>
        <p:nvSpPr>
          <p:cNvPr id="12" name="dot"/>
          <p:cNvSpPr/>
          <p:nvPr/>
        </p:nvSpPr>
        <p:spPr>
          <a:xfrm>
            <a:off x="5532120" y="2011680"/>
            <a:ext cx="457200" cy="4572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12080" y="1325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1998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2697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첫 국제 표준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212080" y="32004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C++98, ISO 표준으로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공식 관리 시작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7680960" y="1325880"/>
            <a:ext cx="3931920" cy="4480560"/>
          </a:xfrm>
          <a:prstGeom prst="roundRect">
            <a:avLst>
              <a:gd name="adj" fmla="val 2791"/>
            </a:avLst>
          </a:prstGeom>
          <a:solidFill>
            <a:schemeClr val="tx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46720" y="169164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</a:t>
            </a:r>
            <a:endParaRPr lang="en-US" sz="60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29260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는 C 언어에서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"값을 1 늘린다"는 뜻의 기호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0" y="41605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→ "C보다 한 단계 발전한 언어"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57200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C의 빠른 속도는 그대로 두고, 큰 프로그램을 체계적으로 만들 기능을 더하고 싶었습니다.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C++는 계속 발전하는 언어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국제 표준화 기구(ISO)의 표준 = "C++ 문법은 이렇게 동작해야 한다"는 공식 규칙집</a:t>
            </a:r>
            <a:endParaRPr lang="en-US" sz="1700" dirty="0"/>
          </a:p>
        </p:txBody>
      </p:sp>
      <p:sp>
        <p:nvSpPr>
          <p:cNvPr id="4" name="card"/>
          <p:cNvSpPr/>
          <p:nvPr/>
        </p:nvSpPr>
        <p:spPr>
          <a:xfrm>
            <a:off x="548640" y="2011680"/>
            <a:ext cx="1691640" cy="2834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240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1998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060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C++98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918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최초의 국제 표준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2423160" y="2011680"/>
            <a:ext cx="1691640" cy="2834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51760" y="2240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2011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6060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C++11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32918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대규모 개편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모던 C++의 시작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4297680" y="2011680"/>
            <a:ext cx="1691640" cy="2834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26280" y="2240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2014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26060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C++14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32918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C++11을 다듬은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작은 개선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6172200" y="2011680"/>
            <a:ext cx="1691640" cy="2834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0" y="2240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2017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6060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C++17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32918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편리한 기능과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파일 시스템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8046720" y="2011680"/>
            <a:ext cx="1691640" cy="2834640"/>
          </a:xfrm>
          <a:prstGeom prst="roundRect">
            <a:avLst>
              <a:gd name="adj" fmla="val 6486"/>
            </a:avLst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75320" y="2240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2020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26060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C++20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8275320" y="32918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모듈, 콘셉트 등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큰 기능 추가</a:t>
            </a:r>
            <a:endParaRPr lang="en-US" sz="1400" dirty="0"/>
          </a:p>
        </p:txBody>
      </p:sp>
      <p:sp>
        <p:nvSpPr>
          <p:cNvPr id="24" name="card"/>
          <p:cNvSpPr/>
          <p:nvPr/>
        </p:nvSpPr>
        <p:spPr>
          <a:xfrm>
            <a:off x="9921240" y="2011680"/>
            <a:ext cx="1691640" cy="2834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149840" y="2240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2023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149840" y="26060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C++23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10149840" y="32918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C++20을 보완한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최신 표준</a:t>
            </a:r>
            <a:endParaRPr lang="en-US" sz="1400" dirty="0"/>
          </a:p>
        </p:txBody>
      </p:sp>
      <p:sp>
        <p:nvSpPr>
          <p:cNvPr id="28" name="card"/>
          <p:cNvSpPr/>
          <p:nvPr/>
        </p:nvSpPr>
        <p:spPr>
          <a:xfrm>
            <a:off x="548640" y="516636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29" name="icon-bg"/>
          <p:cNvSpPr/>
          <p:nvPr/>
        </p:nvSpPr>
        <p:spPr>
          <a:xfrm>
            <a:off x="777240" y="5303520"/>
            <a:ext cx="594360" cy="594360"/>
          </a:xfrm>
          <a:prstGeom prst="ellipse">
            <a:avLst/>
          </a:prstGeom>
          <a:solidFill>
            <a:srgbClr val="2F8F83"/>
          </a:solidFill>
          <a:ln/>
        </p:spPr>
      </p:sp>
      <p:pic>
        <p:nvPicPr>
          <p:cNvPr id="30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5452110"/>
            <a:ext cx="297180" cy="297180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1600200" y="534924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2011년부터는 약 3년마다 새 버전이 나옵니다. 이 교재는 C++20을 기준으로 설명합니다.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C++의 네 가지 특징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463040"/>
            <a:ext cx="534924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4" name="icon-bg"/>
          <p:cNvSpPr/>
          <p:nvPr/>
        </p:nvSpPr>
        <p:spPr>
          <a:xfrm>
            <a:off x="868680" y="1828800"/>
            <a:ext cx="868680" cy="868680"/>
          </a:xfrm>
          <a:prstGeom prst="ellipse">
            <a:avLst/>
          </a:prstGeom>
          <a:solidFill>
            <a:srgbClr val="E8833A"/>
          </a:solidFill>
          <a:ln/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434340" cy="4343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011680" y="1783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빠르다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2011680" y="23317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하드웨어에 가깝게 동작해 적은 시간과 메모리로 일합니다.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6126480" y="1463040"/>
            <a:ext cx="534924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9" name="icon-bg"/>
          <p:cNvSpPr/>
          <p:nvPr/>
        </p:nvSpPr>
        <p:spPr>
          <a:xfrm>
            <a:off x="6446520" y="1828800"/>
            <a:ext cx="868680" cy="868680"/>
          </a:xfrm>
          <a:prstGeom prst="ellipse">
            <a:avLst/>
          </a:prstGeom>
          <a:solidFill>
            <a:srgbClr val="2F8F83"/>
          </a:solidFill>
          <a:ln/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690" y="2045970"/>
            <a:ext cx="434340" cy="4343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783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여러 방식으로 짤 수 있다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3317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절차지향·객체지향·일반화를 모두 지원하는 멀티 패러다임 언어입니다.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548640" y="3794760"/>
            <a:ext cx="534924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4" name="icon-bg"/>
          <p:cNvSpPr/>
          <p:nvPr/>
        </p:nvSpPr>
        <p:spPr>
          <a:xfrm>
            <a:off x="868680" y="4160520"/>
            <a:ext cx="868680" cy="868680"/>
          </a:xfrm>
          <a:prstGeom prst="ellipse">
            <a:avLst/>
          </a:prstGeom>
          <a:solidFill>
            <a:srgbClr val="6B5CA5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" y="4377690"/>
            <a:ext cx="434340" cy="4343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2011680" y="4114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메모리를 직접 다룬다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2011680" y="46634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성능을 끌어올리기 좋지만, 실수하면 오류가 생기기 쉽습니다.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6126480" y="3794760"/>
            <a:ext cx="534924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9" name="icon-bg"/>
          <p:cNvSpPr/>
          <p:nvPr/>
        </p:nvSpPr>
        <p:spPr>
          <a:xfrm>
            <a:off x="6446520" y="4160520"/>
            <a:ext cx="868680" cy="86868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3690" y="4377690"/>
            <a:ext cx="434340" cy="4343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589520" y="4114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 언어와 잘 어울린다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7589520" y="46634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 코드 대부분을 그대로 쓸 수 있어 오랜 C 자산을 활용합니다.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멀티 패러다임: 프로그램을 짜는 세 가지 방식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463040"/>
            <a:ext cx="3493008" cy="4343400"/>
          </a:xfrm>
          <a:prstGeom prst="roundRect">
            <a:avLst>
              <a:gd name="adj" fmla="val 3141"/>
            </a:avLst>
          </a:prstGeom>
          <a:solidFill>
            <a:schemeClr val="bg2"/>
          </a:solidFill>
          <a:ln/>
        </p:spPr>
      </p:sp>
      <p:sp>
        <p:nvSpPr>
          <p:cNvPr id="4" name="icon-bg"/>
          <p:cNvSpPr/>
          <p:nvPr/>
        </p:nvSpPr>
        <p:spPr>
          <a:xfrm>
            <a:off x="1792224" y="1783080"/>
            <a:ext cx="1005840" cy="1005840"/>
          </a:xfrm>
          <a:prstGeom prst="ellipse">
            <a:avLst/>
          </a:prstGeom>
          <a:solidFill>
            <a:srgbClr val="E8833A"/>
          </a:solidFill>
          <a:ln/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3684" y="20345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017520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절차지향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611880"/>
            <a:ext cx="29443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요리 레시피처럼 할 일을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순서대로 적는 방식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029200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교재 2~5장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4279392" y="1463040"/>
            <a:ext cx="3493008" cy="4343400"/>
          </a:xfrm>
          <a:prstGeom prst="roundRect">
            <a:avLst>
              <a:gd name="adj" fmla="val 3141"/>
            </a:avLst>
          </a:prstGeom>
          <a:solidFill>
            <a:schemeClr val="bg2"/>
          </a:solidFill>
          <a:ln/>
        </p:spPr>
      </p:sp>
      <p:sp>
        <p:nvSpPr>
          <p:cNvPr id="10" name="icon-bg"/>
          <p:cNvSpPr/>
          <p:nvPr/>
        </p:nvSpPr>
        <p:spPr>
          <a:xfrm>
            <a:off x="5522976" y="1783080"/>
            <a:ext cx="1005840" cy="1005840"/>
          </a:xfrm>
          <a:prstGeom prst="ellipse">
            <a:avLst/>
          </a:prstGeom>
          <a:solidFill>
            <a:srgbClr val="2F8F83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4436" y="203454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53712" y="3017520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객체지향</a:t>
            </a:r>
            <a:endParaRPr lang="en-US" sz="2100" dirty="0"/>
          </a:p>
        </p:txBody>
      </p:sp>
      <p:sp>
        <p:nvSpPr>
          <p:cNvPr id="13" name="Text 9"/>
          <p:cNvSpPr txBox="1"/>
          <p:nvPr/>
        </p:nvSpPr>
        <p:spPr>
          <a:xfrm>
            <a:off x="4553712" y="3611880"/>
            <a:ext cx="29443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자동차를 바퀴·엔진·핸들의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조합으로 보듯 객체 단위로 나눔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553712" y="5029200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교재 6~10장</a:t>
            </a:r>
            <a:endParaRPr lang="en-US" sz="1500" dirty="0"/>
          </a:p>
        </p:txBody>
      </p:sp>
      <p:sp>
        <p:nvSpPr>
          <p:cNvPr id="15" name="card"/>
          <p:cNvSpPr/>
          <p:nvPr/>
        </p:nvSpPr>
        <p:spPr>
          <a:xfrm>
            <a:off x="8010144" y="1463040"/>
            <a:ext cx="3493008" cy="4343400"/>
          </a:xfrm>
          <a:prstGeom prst="roundRect">
            <a:avLst>
              <a:gd name="adj" fmla="val 3141"/>
            </a:avLst>
          </a:prstGeom>
          <a:solidFill>
            <a:schemeClr val="bg2"/>
          </a:solidFill>
          <a:ln/>
        </p:spPr>
      </p:sp>
      <p:sp>
        <p:nvSpPr>
          <p:cNvPr id="16" name="icon-bg"/>
          <p:cNvSpPr/>
          <p:nvPr/>
        </p:nvSpPr>
        <p:spPr>
          <a:xfrm>
            <a:off x="9253728" y="1783080"/>
            <a:ext cx="1005840" cy="1005840"/>
          </a:xfrm>
          <a:prstGeom prst="ellipse">
            <a:avLst/>
          </a:prstGeom>
          <a:solidFill>
            <a:srgbClr val="6B5CA5"/>
          </a:solidFill>
          <a:ln/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5188" y="203454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284464" y="3017520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일반화 프로그래밍</a:t>
            </a:r>
            <a:endParaRPr lang="en-US" sz="2100" dirty="0"/>
          </a:p>
        </p:txBody>
      </p:sp>
      <p:sp>
        <p:nvSpPr>
          <p:cNvPr id="19" name="Text 14"/>
          <p:cNvSpPr txBox="1"/>
          <p:nvPr/>
        </p:nvSpPr>
        <p:spPr>
          <a:xfrm>
            <a:off x="8284464" y="3611880"/>
            <a:ext cx="29443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어떤 자료형에도 쓸 수 있는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틀(템플릿)을 만드는 방식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284464" y="5029200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교재 11~12장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C++는 어디에 쓰일까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463040"/>
            <a:ext cx="2057400" cy="356616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4" name="icon-bg"/>
          <p:cNvSpPr/>
          <p:nvPr/>
        </p:nvSpPr>
        <p:spPr>
          <a:xfrm>
            <a:off x="1097280" y="1783080"/>
            <a:ext cx="960120" cy="960120"/>
          </a:xfrm>
          <a:prstGeom prst="ellipse">
            <a:avLst/>
          </a:prstGeom>
          <a:solidFill>
            <a:srgbClr val="1C2430"/>
          </a:solidFill>
          <a:ln/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7310" y="2023110"/>
            <a:ext cx="480060" cy="4800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9718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게임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52044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언리얼 엔진,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대작 PC·콘솔 게임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2788920" y="1463040"/>
            <a:ext cx="2057400" cy="356616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9" name="icon-bg"/>
          <p:cNvSpPr/>
          <p:nvPr/>
        </p:nvSpPr>
        <p:spPr>
          <a:xfrm>
            <a:off x="3337560" y="1783080"/>
            <a:ext cx="960120" cy="960120"/>
          </a:xfrm>
          <a:prstGeom prst="ellipse">
            <a:avLst/>
          </a:prstGeom>
          <a:solidFill>
            <a:srgbClr val="1C2430"/>
          </a:solidFill>
          <a:ln/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590" y="2023110"/>
            <a:ext cx="480060" cy="4800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926080" y="29718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운영체제·시스템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2926080" y="352044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윈도우·macOS의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일부 구성 요소, 드라이버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5029200" y="1463040"/>
            <a:ext cx="2057400" cy="356616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4" name="icon-bg"/>
          <p:cNvSpPr/>
          <p:nvPr/>
        </p:nvSpPr>
        <p:spPr>
          <a:xfrm>
            <a:off x="5577840" y="1783080"/>
            <a:ext cx="960120" cy="960120"/>
          </a:xfrm>
          <a:prstGeom prst="ellipse">
            <a:avLst/>
          </a:prstGeom>
          <a:solidFill>
            <a:srgbClr val="1C2430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870" y="2023110"/>
            <a:ext cx="480060" cy="4800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166360" y="29718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웹 브라우저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5166360" y="352044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크롬, 파이어폭스의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핵심 엔진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7269480" y="1463040"/>
            <a:ext cx="2057400" cy="356616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9" name="icon-bg"/>
          <p:cNvSpPr/>
          <p:nvPr/>
        </p:nvSpPr>
        <p:spPr>
          <a:xfrm>
            <a:off x="7818120" y="1783080"/>
            <a:ext cx="960120" cy="960120"/>
          </a:xfrm>
          <a:prstGeom prst="ellipse">
            <a:avLst/>
          </a:prstGeom>
          <a:solidFill>
            <a:srgbClr val="1C2430"/>
          </a:solidFill>
          <a:ln/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8150" y="2023110"/>
            <a:ext cx="480060" cy="4800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06640" y="29718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임베디드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7406640" y="352044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자동차 전자 장치,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가전제품, 로봇</a:t>
            </a:r>
            <a:endParaRPr lang="en-US" sz="1300" dirty="0"/>
          </a:p>
        </p:txBody>
      </p:sp>
      <p:sp>
        <p:nvSpPr>
          <p:cNvPr id="23" name="card"/>
          <p:cNvSpPr/>
          <p:nvPr/>
        </p:nvSpPr>
        <p:spPr>
          <a:xfrm>
            <a:off x="9509760" y="1463040"/>
            <a:ext cx="2057400" cy="356616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4" name="icon-bg"/>
          <p:cNvSpPr/>
          <p:nvPr/>
        </p:nvSpPr>
        <p:spPr>
          <a:xfrm>
            <a:off x="10058400" y="1783080"/>
            <a:ext cx="960120" cy="960120"/>
          </a:xfrm>
          <a:prstGeom prst="ellipse">
            <a:avLst/>
          </a:prstGeom>
          <a:solidFill>
            <a:srgbClr val="1C2430"/>
          </a:solidFill>
          <a:ln/>
        </p:spPr>
      </p:sp>
      <p:pic>
        <p:nvPicPr>
          <p:cNvPr id="25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8430" y="2023110"/>
            <a:ext cx="480060" cy="4800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646920" y="29718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금융·과학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9646920" y="352044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초고속 주식 거래,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시뮬레이션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548640" y="5303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속도와 효율이 중요한 곳이라면 어디든 C++를 만날 수 있습니다. 처음엔 어렵지만, C++로 익힌 "컴퓨터가 실제로 어떻게 동작하는가"는 다른 언어를 배울 때도 큰 힘이 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0116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1.2</a:t>
            </a:r>
            <a:endParaRPr lang="en-US" sz="2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컴파일 과정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컴퓨터는 C++를 직접 알아듣지 못한다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CPU가 이해하는 언어는 0과 1로 된 기계어뿐 → 사람이 읽기 쉬운 C++로 쓰고, 컴파일러에게 번역을 맡깁니다. 이 번역을 컴파일(compile)이라고 합니다.</a:t>
            </a:r>
            <a:endParaRPr lang="en-US" sz="1700" dirty="0"/>
          </a:p>
        </p:txBody>
      </p:sp>
      <p:sp>
        <p:nvSpPr>
          <p:cNvPr id="4" name="card"/>
          <p:cNvSpPr/>
          <p:nvPr/>
        </p:nvSpPr>
        <p:spPr>
          <a:xfrm>
            <a:off x="548640" y="2377440"/>
            <a:ext cx="2377440" cy="310896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5" name="icon-bg"/>
          <p:cNvSpPr/>
          <p:nvPr/>
        </p:nvSpPr>
        <p:spPr>
          <a:xfrm>
            <a:off x="1280160" y="2651760"/>
            <a:ext cx="914400" cy="914400"/>
          </a:xfrm>
          <a:prstGeom prst="ellipse">
            <a:avLst/>
          </a:prstGeom>
          <a:solidFill>
            <a:srgbClr val="6B5CA5"/>
          </a:solidFill>
          <a:ln/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28803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3749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C++ 소스 코드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2976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한국어 요리책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2971800" y="3657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▶</a:t>
            </a:r>
            <a:endParaRPr lang="en-US" sz="1800" dirty="0"/>
          </a:p>
        </p:txBody>
      </p:sp>
      <p:sp>
        <p:nvSpPr>
          <p:cNvPr id="10" name="card"/>
          <p:cNvSpPr/>
          <p:nvPr/>
        </p:nvSpPr>
        <p:spPr>
          <a:xfrm>
            <a:off x="3383280" y="2377440"/>
            <a:ext cx="2377440" cy="310896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1" name="icon-bg"/>
          <p:cNvSpPr/>
          <p:nvPr/>
        </p:nvSpPr>
        <p:spPr>
          <a:xfrm>
            <a:off x="4114800" y="2651760"/>
            <a:ext cx="914400" cy="914400"/>
          </a:xfrm>
          <a:prstGeom prst="ellipse">
            <a:avLst/>
          </a:prstGeom>
          <a:solidFill>
            <a:srgbClr val="E8833A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8803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66160" y="3749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컴파일러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566160" y="42976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번역가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5806440" y="3657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▶</a:t>
            </a:r>
            <a:endParaRPr lang="en-US" sz="1800" dirty="0"/>
          </a:p>
        </p:txBody>
      </p:sp>
      <p:sp>
        <p:nvSpPr>
          <p:cNvPr id="16" name="card"/>
          <p:cNvSpPr/>
          <p:nvPr/>
        </p:nvSpPr>
        <p:spPr>
          <a:xfrm>
            <a:off x="6217920" y="2377440"/>
            <a:ext cx="2377440" cy="310896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7" name="icon-bg"/>
          <p:cNvSpPr/>
          <p:nvPr/>
        </p:nvSpPr>
        <p:spPr>
          <a:xfrm>
            <a:off x="6949440" y="2651760"/>
            <a:ext cx="914400" cy="914400"/>
          </a:xfrm>
          <a:prstGeom prst="ellipse">
            <a:avLst/>
          </a:prstGeom>
          <a:solidFill>
            <a:srgbClr val="2F8F83"/>
          </a:solidFill>
          <a:ln/>
        </p:spPr>
      </p:sp>
      <p:pic>
        <p:nvPicPr>
          <p:cNvPr id="18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88036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00800" y="3749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실행 파일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6400800" y="42976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번역된 프랑스어 요리책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8641080" y="3657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▶</a:t>
            </a:r>
            <a:endParaRPr lang="en-US" sz="1800" dirty="0"/>
          </a:p>
        </p:txBody>
      </p:sp>
      <p:sp>
        <p:nvSpPr>
          <p:cNvPr id="22" name="card"/>
          <p:cNvSpPr/>
          <p:nvPr/>
        </p:nvSpPr>
        <p:spPr>
          <a:xfrm>
            <a:off x="9052560" y="2377440"/>
            <a:ext cx="2377440" cy="310896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23" name="icon-bg"/>
          <p:cNvSpPr/>
          <p:nvPr/>
        </p:nvSpPr>
        <p:spPr>
          <a:xfrm>
            <a:off x="9784080" y="2651760"/>
            <a:ext cx="914400" cy="914400"/>
          </a:xfrm>
          <a:prstGeom prst="ellipse">
            <a:avLst/>
          </a:prstGeom>
          <a:solidFill>
            <a:srgbClr val="3A4656"/>
          </a:solidFill>
          <a:ln/>
        </p:spPr>
      </p:sp>
      <p:pic>
        <p:nvPicPr>
          <p:cNvPr id="24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2680" y="2880360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235440" y="3749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CPU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9235440" y="42976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책을 보고 요리하는 요리사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소스 코드가 실행 파일이 되기까지 4단계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463040"/>
            <a:ext cx="2578608" cy="365760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</p:spPr>
      </p:sp>
      <p:sp>
        <p:nvSpPr>
          <p:cNvPr id="4" name="step-num-bg"/>
          <p:cNvSpPr/>
          <p:nvPr/>
        </p:nvSpPr>
        <p:spPr>
          <a:xfrm>
            <a:off x="822960" y="17373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7830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전처리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#으로 시작하는 줄 처리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#include → 파일 내용 붙여넣기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343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hello.cpp → 펼쳐진 코드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3364992" y="1463040"/>
            <a:ext cx="2578608" cy="365760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</p:spPr>
      </p:sp>
      <p:sp>
        <p:nvSpPr>
          <p:cNvPr id="10" name="step-num-bg"/>
          <p:cNvSpPr/>
          <p:nvPr/>
        </p:nvSpPr>
        <p:spPr>
          <a:xfrm>
            <a:off x="3639312" y="17373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39312" y="1737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462272" y="17830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컴파일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639312" y="269748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문법 검사 후 어셈블리어로 번역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문법 실수 → 컴파일 오류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39312" y="4343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어셈블리어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6181344" y="1463040"/>
            <a:ext cx="2578608" cy="365760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</p:spPr>
      </p:sp>
      <p:sp>
        <p:nvSpPr>
          <p:cNvPr id="16" name="step-num-bg"/>
          <p:cNvSpPr/>
          <p:nvPr/>
        </p:nvSpPr>
        <p:spPr>
          <a:xfrm>
            <a:off x="6455664" y="17373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55664" y="1737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278624" y="17830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어셈블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455664" y="269748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기계어로 바꿔 목적 파일 생성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아직 혼자 실행 못 하는 "부품"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55664" y="4343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hello.o / .obj</a:t>
            </a:r>
            <a:endParaRPr lang="en-US" sz="1300" dirty="0"/>
          </a:p>
        </p:txBody>
      </p:sp>
      <p:sp>
        <p:nvSpPr>
          <p:cNvPr id="21" name="card"/>
          <p:cNvSpPr/>
          <p:nvPr/>
        </p:nvSpPr>
        <p:spPr>
          <a:xfrm>
            <a:off x="8997696" y="1463040"/>
            <a:ext cx="2578608" cy="365760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</p:spPr>
      </p:sp>
      <p:sp>
        <p:nvSpPr>
          <p:cNvPr id="22" name="step-num-bg"/>
          <p:cNvSpPr/>
          <p:nvPr/>
        </p:nvSpPr>
        <p:spPr>
          <a:xfrm>
            <a:off x="9272016" y="17373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272016" y="1737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10094976" y="17830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링크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9272016" y="269748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목적 파일 + 표준 라이브러리 연결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부품을 못 찾으면 → 링크 오류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272016" y="4343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hello.exe</a:t>
            </a:r>
            <a:endParaRPr lang="en-US" sz="1300" dirty="0"/>
          </a:p>
        </p:txBody>
      </p:sp>
      <p:sp>
        <p:nvSpPr>
          <p:cNvPr id="27" name="card"/>
          <p:cNvSpPr/>
          <p:nvPr/>
        </p:nvSpPr>
        <p:spPr>
          <a:xfrm>
            <a:off x="548640" y="5394960"/>
            <a:ext cx="11064240" cy="6858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2960" y="5394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"빌드(build)" 버튼 하나를 누르면 이 네 단계가 차례로 일어납니다.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헤더 파일과 소스 파일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463040"/>
            <a:ext cx="534924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4" name="icon-bg"/>
          <p:cNvSpPr/>
          <p:nvPr/>
        </p:nvSpPr>
        <p:spPr>
          <a:xfrm>
            <a:off x="914400" y="1783080"/>
            <a:ext cx="914400" cy="914400"/>
          </a:xfrm>
          <a:prstGeom prst="ellipse">
            <a:avLst/>
          </a:prstGeom>
          <a:solidFill>
            <a:srgbClr val="2F8F83"/>
          </a:solidFill>
          <a:ln/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0116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057400" y="1783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헤더 파일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2057400" y="2286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  .hpp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0175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"이런 기능이 있다"는 선언(목록)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8404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비유: 식당 메뉴판</a:t>
            </a:r>
            <a:endParaRPr lang="en-US" sz="1600" dirty="0"/>
          </a:p>
        </p:txBody>
      </p:sp>
      <p:sp>
        <p:nvSpPr>
          <p:cNvPr id="10" name="card"/>
          <p:cNvSpPr/>
          <p:nvPr/>
        </p:nvSpPr>
        <p:spPr>
          <a:xfrm>
            <a:off x="6126480" y="1463040"/>
            <a:ext cx="534924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1" name="icon-bg"/>
          <p:cNvSpPr/>
          <p:nvPr/>
        </p:nvSpPr>
        <p:spPr>
          <a:xfrm>
            <a:off x="6492240" y="1783080"/>
            <a:ext cx="914400" cy="914400"/>
          </a:xfrm>
          <a:prstGeom prst="ellipse">
            <a:avLst/>
          </a:prstGeom>
          <a:solidFill>
            <a:srgbClr val="E8833A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116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635240" y="1783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소스 파일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7635240" y="2286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.cpp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492240" y="30175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기능을 실제로 구현한 코드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6492240" y="38404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비유: 주방의 실제 요리법</a:t>
            </a:r>
            <a:endParaRPr lang="en-US" sz="1600" dirty="0"/>
          </a:p>
        </p:txBody>
      </p:sp>
      <p:sp>
        <p:nvSpPr>
          <p:cNvPr id="17" name="code-bg"/>
          <p:cNvSpPr/>
          <p:nvPr/>
        </p:nvSpPr>
        <p:spPr>
          <a:xfrm>
            <a:off x="548640" y="5029200"/>
            <a:ext cx="5486400" cy="1051560"/>
          </a:xfrm>
          <a:prstGeom prst="roundRect">
            <a:avLst>
              <a:gd name="adj" fmla="val 8696"/>
            </a:avLst>
          </a:prstGeom>
          <a:solidFill>
            <a:schemeClr val="tx1"/>
          </a:solidFill>
          <a:ln/>
        </p:spPr>
      </p:sp>
      <p:sp>
        <p:nvSpPr>
          <p:cNvPr id="18" name="code"/>
          <p:cNvSpPr txBox="1"/>
          <p:nvPr/>
        </p:nvSpPr>
        <p:spPr>
          <a:xfrm>
            <a:off x="822960" y="525780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9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&lt;iostream&gt;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AA5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// 메뉴판을 가져온다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6309360" y="507492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1장에서는 표준 헤더 &lt;iostream&gt;만 사용하고, 헤더를 직접 만드는 방법은 4장에서 배웁니다.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오류의 세 가지 종류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417320"/>
            <a:ext cx="75895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4" name="err-dot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C245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63040" y="14173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컴파일 오류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4173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2단계(컴파일)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14173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세미콜론(;) 빠뜨림, 오타, 괄호 짝이 안 맞음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548640" y="2606040"/>
            <a:ext cx="75895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9" name="err-dot"/>
          <p:cNvSpPr/>
          <p:nvPr/>
        </p:nvSpPr>
        <p:spPr>
          <a:xfrm>
            <a:off x="777240" y="2880360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463040" y="26060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링크 오류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26060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4단계(링크)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26060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선언만 하고 구현을 안 함, main 함수가 없음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548640" y="3794760"/>
            <a:ext cx="75895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4" name="err-dot"/>
          <p:cNvSpPr/>
          <p:nvPr/>
        </p:nvSpPr>
        <p:spPr>
          <a:xfrm>
            <a:off x="777240" y="4069080"/>
            <a:ext cx="457200" cy="457200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463040" y="37947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실행 오류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379476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실행 중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37947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0으로 나누기 등. 빌드는 성공했지만 실행 중 문제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8412480" y="1417320"/>
            <a:ext cx="3200400" cy="3383280"/>
          </a:xfrm>
          <a:prstGeom prst="roundRect">
            <a:avLst>
              <a:gd name="adj" fmla="val 3429"/>
            </a:avLst>
          </a:prstGeom>
          <a:solidFill>
            <a:schemeClr val="tx1"/>
          </a:solidFill>
          <a:ln/>
        </p:spPr>
      </p:sp>
      <p:sp>
        <p:nvSpPr>
          <p:cNvPr id="19" name="icon-bg"/>
          <p:cNvSpPr/>
          <p:nvPr/>
        </p:nvSpPr>
        <p:spPr>
          <a:xfrm>
            <a:off x="8686800" y="1691640"/>
            <a:ext cx="731520" cy="731520"/>
          </a:xfrm>
          <a:prstGeom prst="ellipse">
            <a:avLst/>
          </a:prstGeom>
          <a:solidFill>
            <a:srgbClr val="E8833A"/>
          </a:solidFill>
          <a:ln/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1874520"/>
            <a:ext cx="365760" cy="36576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9555480" y="1783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팁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8686800" y="2651760"/>
            <a:ext cx="2697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오류가 여러 개 나오면 맨 위의 첫 번째 오류부터 고치세요.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첫 오류 하나 때문에 뒤따라 생긴 오류가 많습니다.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오류 메시지는 컴파일러가 "여기를 고쳐 주세요"라고 알려 주는 친절한 안내입니다.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0116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1.3</a:t>
            </a:r>
            <a:endParaRPr lang="en-US" sz="2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개발 환경 구축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필요한 도구: 컴파일러 + 편집기(IDE)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목수에게 톱과 작업대가 필요하듯, 코드를 번역할 컴파일러와 코드를 편하게 쓸 편집기 또는 IDE가 필요합니다.</a:t>
            </a:r>
            <a:endParaRPr lang="en-US" sz="1700" dirty="0"/>
          </a:p>
        </p:txBody>
      </p:sp>
      <p:sp>
        <p:nvSpPr>
          <p:cNvPr id="4" name="card"/>
          <p:cNvSpPr/>
          <p:nvPr/>
        </p:nvSpPr>
        <p:spPr>
          <a:xfrm>
            <a:off x="548640" y="2011680"/>
            <a:ext cx="3493008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2860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MSVC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9718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만든 곳 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마이크로소프트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환경 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윈도우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9319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Visual Studio에 포함되어 함께 설치됨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4279392" y="2011680"/>
            <a:ext cx="3493008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99432" y="22860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GCC (g++)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599432" y="29718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만든 곳 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GNU 프로젝트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환경 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리눅스, 윈도우(MinGW)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39319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무료, 오픈 소스. 가장 널리 쓰임</a:t>
            </a:r>
            <a:endParaRPr 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8010144" y="2011680"/>
            <a:ext cx="3493008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30184" y="22860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Clang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330184" y="29718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만든 곳 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LLVM 프로젝트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환경 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macOS, 리눅스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330184" y="39319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오류 메시지가 친절한 편. macOS 기본</a:t>
            </a:r>
            <a:endParaRPr lang="en-US" sz="1500" dirty="0"/>
          </a:p>
        </p:txBody>
      </p:sp>
      <p:sp>
        <p:nvSpPr>
          <p:cNvPr id="16" name="card"/>
          <p:cNvSpPr/>
          <p:nvPr/>
        </p:nvSpPr>
        <p:spPr>
          <a:xfrm>
            <a:off x="548640" y="5303520"/>
            <a:ext cx="110642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53035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세 컴파일러 모두 C++ 표준을 따르므로, 표준 문법으로 쓴 코드는 어느 컴파일러에서나 똑같이 동작합니다.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대표적인 개발 도구</a:t>
            </a:r>
            <a:endParaRPr lang="en-US" sz="3000" dirty="0"/>
          </a:p>
        </p:txBody>
      </p:sp>
      <p:graphicFrame>
        <p:nvGraphicFramePr>
          <p:cNvPr id="18" name="tool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572000"/>
                <a:gridCol w="347472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도구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장점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추천 대상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Visual Studio Community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설치 한 번으로 컴파일러까지 준비. 디버거가 강력함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윈도우 사용 초보자 (교재 기본 환경)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Visual Studio Code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가볍고 다양한 언어 지원. 확장 기능으로 C++ 개발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컴파일러를 따로 설치할 수 있는 사용자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Xcode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macOS 공식 개발 도구, Clang 포함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macOS 사용자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CLion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똑똑한 코드 분석 기능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학생 무료 라이선스 이용자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온라인 컴파일러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설치 없이 웹 브라우저에서 바로 실행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설치 전 맛보기, 학교·도서관 PC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Visual Studio로 시작하기 (윈도우)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417320"/>
            <a:ext cx="349300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4" name="num-bg"/>
          <p:cNvSpPr/>
          <p:nvPr/>
        </p:nvSpPr>
        <p:spPr>
          <a:xfrm>
            <a:off x="822960" y="1691640"/>
            <a:ext cx="594360" cy="59436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6916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설치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231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공식 웹사이트에서 Visual Studio Community(무료)를 내려받아 실행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279392" y="1417320"/>
            <a:ext cx="349300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9" name="num-bg"/>
          <p:cNvSpPr/>
          <p:nvPr/>
        </p:nvSpPr>
        <p:spPr>
          <a:xfrm>
            <a:off x="4553712" y="1691640"/>
            <a:ext cx="594360" cy="59436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53712" y="1691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285232" y="16916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워크로드 선택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553712" y="24231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"C++를 사용한 데스크톱 개발"을 선택해 설치 (MSVC 포함)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8010144" y="1417320"/>
            <a:ext cx="349300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4" name="num-bg"/>
          <p:cNvSpPr/>
          <p:nvPr/>
        </p:nvSpPr>
        <p:spPr>
          <a:xfrm>
            <a:off x="8284464" y="1691640"/>
            <a:ext cx="594360" cy="59436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84464" y="1691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9015984" y="16916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프로젝트 만들기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8284464" y="24231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새 프로젝트 만들기 → 빈 프로젝트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548640" y="3794760"/>
            <a:ext cx="349300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9" name="num-bg"/>
          <p:cNvSpPr/>
          <p:nvPr/>
        </p:nvSpPr>
        <p:spPr>
          <a:xfrm>
            <a:off x="822960" y="4069080"/>
            <a:ext cx="594360" cy="59436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069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40690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이름 정하기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8006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프로젝트 이름(예: Hello)과 위치를 정하고 만들기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4279392" y="3794760"/>
            <a:ext cx="349300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4" name="num-bg"/>
          <p:cNvSpPr/>
          <p:nvPr/>
        </p:nvSpPr>
        <p:spPr>
          <a:xfrm>
            <a:off x="4553712" y="4069080"/>
            <a:ext cx="594360" cy="59436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53712" y="4069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5285232" y="40690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파일 추가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4553712" y="48006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솔루션 탐색기 → 소스 파일 우클릭 → 추가 → 새 항목 → C++ 파일(main.cpp)</a:t>
            </a:r>
            <a:endParaRPr lang="en-US" sz="1400" dirty="0"/>
          </a:p>
        </p:txBody>
      </p:sp>
      <p:sp>
        <p:nvSpPr>
          <p:cNvPr id="28" name="card"/>
          <p:cNvSpPr/>
          <p:nvPr/>
        </p:nvSpPr>
        <p:spPr>
          <a:xfrm>
            <a:off x="8010144" y="3794760"/>
            <a:ext cx="349300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9" name="num-bg"/>
          <p:cNvSpPr/>
          <p:nvPr/>
        </p:nvSpPr>
        <p:spPr>
          <a:xfrm>
            <a:off x="8284464" y="40690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84464" y="4069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6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9015984" y="40690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실행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8284464" y="48006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코드 입력 후 Ctrl + F5 (디버그하지 않고 시작)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명령어로 직접 컴파일해 보기 (선택)</a:t>
            </a:r>
            <a:endParaRPr lang="en-US" sz="3000" dirty="0"/>
          </a:p>
        </p:txBody>
      </p:sp>
      <p:sp>
        <p:nvSpPr>
          <p:cNvPr id="3" name="code-bg"/>
          <p:cNvSpPr/>
          <p:nvPr/>
        </p:nvSpPr>
        <p:spPr>
          <a:xfrm>
            <a:off x="548640" y="1417320"/>
            <a:ext cx="6583680" cy="182880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/>
        </p:spPr>
      </p:sp>
      <p:sp>
        <p:nvSpPr>
          <p:cNvPr id="4" name="code"/>
          <p:cNvSpPr txBox="1"/>
          <p:nvPr/>
        </p:nvSpPr>
        <p:spPr>
          <a:xfrm>
            <a:off x="822960" y="164592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9AA5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g++ -std=c++20 hello.cpp -o hello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9AA5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hello.cpp를 컴파일해 hello 실행 파일 생성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9AA5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./hello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9AA5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실행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1417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-std=c++20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235440" y="1417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C++20 표준 규칙으로 번역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498080" y="2057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-o hello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235440" y="2057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결과 실행 파일 이름을 hello로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2697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clang++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235440" y="2697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Clang을 쓴다면 g++ 대신 입력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548640" y="3657600"/>
            <a:ext cx="110642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2" name="icon-bg"/>
          <p:cNvSpPr/>
          <p:nvPr/>
        </p:nvSpPr>
        <p:spPr>
          <a:xfrm>
            <a:off x="868680" y="3977640"/>
            <a:ext cx="777240" cy="777240"/>
          </a:xfrm>
          <a:prstGeom prst="ellipse">
            <a:avLst/>
          </a:prstGeom>
          <a:solidFill>
            <a:srgbClr val="2F8F83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990" y="4171950"/>
            <a:ext cx="388620" cy="38862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874520" y="40233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왜 명령어로 해 볼까?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1874520" y="4617720"/>
            <a:ext cx="9418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macOS나 리눅스의 터미널에서는 컴파일러를 직접 실행할 수 있어, 컴파일 과정을 눈으로 확인할 수 있습니다.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설치가 막막하다면 온라인 컴파일러로 먼저 1.4절 예제를 실행해 보고, 막히면 오류 화면을 그대로 캡처해 질문하세요.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0116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1.4</a:t>
            </a:r>
            <a:endParaRPr lang="en-US" sz="2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첫 번째 프로그램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Hello, World!</a:t>
            </a:r>
            <a:endParaRPr lang="en-US" sz="3000" dirty="0"/>
          </a:p>
        </p:txBody>
      </p:sp>
      <p:sp>
        <p:nvSpPr>
          <p:cNvPr id="3" name="code-bg"/>
          <p:cNvSpPr/>
          <p:nvPr/>
        </p:nvSpPr>
        <p:spPr>
          <a:xfrm>
            <a:off x="548640" y="1371600"/>
            <a:ext cx="6766560" cy="4206240"/>
          </a:xfrm>
          <a:prstGeom prst="roundRect">
            <a:avLst>
              <a:gd name="adj" fmla="val 2174"/>
            </a:avLst>
          </a:prstGeom>
          <a:solidFill>
            <a:schemeClr val="tx1"/>
          </a:solidFill>
          <a:ln/>
        </p:spPr>
      </p:sp>
      <p:sp>
        <p:nvSpPr>
          <p:cNvPr id="4" name="code"/>
          <p:cNvSpPr txBox="1"/>
          <p:nvPr/>
        </p:nvSpPr>
        <p:spPr>
          <a:xfrm>
            <a:off x="822960" y="1600200"/>
            <a:ext cx="62179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AA5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나의 첫 번째 C++ 프로그램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9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&lt;iostream&gt;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main()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std::cout &lt;&lt;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World!"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std::endl;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0;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680960" y="1371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실행 결과</a:t>
            </a:r>
            <a:endParaRPr lang="en-US" sz="1700" dirty="0"/>
          </a:p>
        </p:txBody>
      </p:sp>
      <p:sp>
        <p:nvSpPr>
          <p:cNvPr id="6" name="card"/>
          <p:cNvSpPr/>
          <p:nvPr/>
        </p:nvSpPr>
        <p:spPr>
          <a:xfrm>
            <a:off x="7680960" y="1874520"/>
            <a:ext cx="393192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0" y="18745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Hello, World!</a:t>
            </a:r>
            <a:endParaRPr lang="en-US" sz="2200" dirty="0"/>
          </a:p>
        </p:txBody>
      </p:sp>
      <p:sp>
        <p:nvSpPr>
          <p:cNvPr id="8" name="icon-bg"/>
          <p:cNvSpPr/>
          <p:nvPr/>
        </p:nvSpPr>
        <p:spPr>
          <a:xfrm>
            <a:off x="7680960" y="3429000"/>
            <a:ext cx="777240" cy="777240"/>
          </a:xfrm>
          <a:prstGeom prst="ellipse">
            <a:avLst/>
          </a:prstGeom>
          <a:solidFill>
            <a:srgbClr val="E8833A"/>
          </a:solidFill>
          <a:ln/>
        </p:spPr>
      </p:sp>
      <p:pic>
        <p:nvPicPr>
          <p:cNvPr id="9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5270" y="3623310"/>
            <a:ext cx="388620" cy="3886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641080" y="33832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화면에 글자가 나왔다면 첫 C++ 프로그램 완성!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7680960" y="45720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프로그래밍을 배울 때 전통적으로 가장 먼저 만드는 프로그램입니다. 그대로 입력하고 실행해 보세요.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한 줄씩 살펴보기</a:t>
            </a:r>
            <a:endParaRPr lang="en-US" sz="3000" dirty="0"/>
          </a:p>
        </p:txBody>
      </p:sp>
      <p:sp>
        <p:nvSpPr>
          <p:cNvPr id="3" name="row-bg"/>
          <p:cNvSpPr/>
          <p:nvPr/>
        </p:nvSpPr>
        <p:spPr>
          <a:xfrm>
            <a:off x="548640" y="1325880"/>
            <a:ext cx="11064240" cy="53035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32588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206240" y="132588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주석: 사람을 위한 메모. 컴파일러는 무시 (여러 줄은 /* */)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56232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856232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화면 출력·키보드 입력 기능을 가져옴 (전처리 단계)</a:t>
            </a:r>
            <a:endParaRPr lang="en-US" sz="1500" dirty="0"/>
          </a:p>
        </p:txBody>
      </p:sp>
      <p:sp>
        <p:nvSpPr>
          <p:cNvPr id="8" name="row-bg"/>
          <p:cNvSpPr/>
          <p:nvPr/>
        </p:nvSpPr>
        <p:spPr>
          <a:xfrm>
            <a:off x="548640" y="2386584"/>
            <a:ext cx="11064240" cy="53035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386584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2386584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프로그램의 출발점. int는 끝날 때 정수를 돌려준다는 뜻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916936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 }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2916936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main에 속하는 명령을 묶는 울타리. 짝이 맞아야 함</a:t>
            </a:r>
            <a:endParaRPr lang="en-US" sz="1500" dirty="0"/>
          </a:p>
        </p:txBody>
      </p:sp>
      <p:sp>
        <p:nvSpPr>
          <p:cNvPr id="13" name="row-bg"/>
          <p:cNvSpPr/>
          <p:nvPr/>
        </p:nvSpPr>
        <p:spPr>
          <a:xfrm>
            <a:off x="548640" y="3447288"/>
            <a:ext cx="11064240" cy="53035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447288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std::cout &lt;&lt;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3447288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화면으로 가는 통로에 오른쪽 내용을 흘려보냄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397764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World!"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397764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큰따옴표 안의 문자열은 적힌 그대로 출력</a:t>
            </a:r>
            <a:endParaRPr lang="en-US" sz="1500" dirty="0"/>
          </a:p>
        </p:txBody>
      </p:sp>
      <p:sp>
        <p:nvSpPr>
          <p:cNvPr id="18" name="row-bg"/>
          <p:cNvSpPr/>
          <p:nvPr/>
        </p:nvSpPr>
        <p:spPr>
          <a:xfrm>
            <a:off x="548640" y="4507992"/>
            <a:ext cx="11064240" cy="53035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4507992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std::endl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206240" y="4507992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줄 바꿈. "\n"을 써도 됨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5038344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206240" y="5038344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문장의 끝. 가장 자주 빠뜨리는 기호!</a:t>
            </a:r>
            <a:endParaRPr lang="en-US" sz="1500" dirty="0"/>
          </a:p>
        </p:txBody>
      </p:sp>
      <p:sp>
        <p:nvSpPr>
          <p:cNvPr id="23" name="row-bg"/>
          <p:cNvSpPr/>
          <p:nvPr/>
        </p:nvSpPr>
        <p:spPr>
          <a:xfrm>
            <a:off x="548640" y="5568696"/>
            <a:ext cx="11064240" cy="53035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7240" y="5568696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0;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206240" y="5568696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"문제없이 끝났다"는 신호. main에서는 생략 가능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std::와 네임스페이스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417320"/>
            <a:ext cx="512064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/>
        </p:spPr>
      </p:sp>
      <p:sp>
        <p:nvSpPr>
          <p:cNvPr id="4" name="icon-bg"/>
          <p:cNvSpPr/>
          <p:nvPr/>
        </p:nvSpPr>
        <p:spPr>
          <a:xfrm>
            <a:off x="868680" y="1737360"/>
            <a:ext cx="868680" cy="868680"/>
          </a:xfrm>
          <a:prstGeom prst="ellipse">
            <a:avLst/>
          </a:prstGeom>
          <a:solidFill>
            <a:srgbClr val="2F8F83"/>
          </a:solidFill>
          <a:ln/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1954530"/>
            <a:ext cx="434340" cy="4343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7830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반 이름 붙이기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83464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같은 반에 "김민준"이 둘이면 "1반 김민준", "2반 김민준"처럼 구분하듯,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93192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std::cout</a:t>
            </a:r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 = 표준(standard) 라이브러리 반의 cout</a:t>
            </a:r>
            <a:endParaRPr lang="en-US" sz="1700" dirty="0"/>
          </a:p>
        </p:txBody>
      </p:sp>
      <p:sp>
        <p:nvSpPr>
          <p:cNvPr id="9" name="code-bg"/>
          <p:cNvSpPr/>
          <p:nvPr/>
        </p:nvSpPr>
        <p:spPr>
          <a:xfrm>
            <a:off x="5943600" y="1417320"/>
            <a:ext cx="5669280" cy="2514600"/>
          </a:xfrm>
          <a:prstGeom prst="roundRect">
            <a:avLst>
              <a:gd name="adj" fmla="val 3636"/>
            </a:avLst>
          </a:prstGeom>
          <a:solidFill>
            <a:schemeClr val="tx1"/>
          </a:solidFill>
          <a:ln/>
        </p:spPr>
      </p:sp>
      <p:sp>
        <p:nvSpPr>
          <p:cNvPr id="10" name="code"/>
          <p:cNvSpPr txBox="1"/>
          <p:nvPr/>
        </p:nvSpPr>
        <p:spPr>
          <a:xfrm>
            <a:off x="6217920" y="164592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9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&lt;iostream&gt;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std;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AA5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std:: 없이 쓰겠다는 선언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main() { cout &lt;&lt;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"Hi"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5943600" y="4160520"/>
            <a:ext cx="566928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217920" y="429768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짧은 연습 코드에서는 편리하지만, 큰 프로그램에서는 다른 이름과 충돌할 위험이 있습니다.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이 교재는 std::를 붙여 쓰는 방식을 기본으로 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좋은 습관, 그리고 일부러 오류 내 보기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좋은 코드 작성 습관</a:t>
            </a:r>
            <a:endParaRPr lang="en-US" sz="1900" dirty="0"/>
          </a:p>
        </p:txBody>
      </p:sp>
      <p:sp>
        <p:nvSpPr>
          <p:cNvPr id="4" name="card"/>
          <p:cNvSpPr/>
          <p:nvPr/>
        </p:nvSpPr>
        <p:spPr>
          <a:xfrm>
            <a:off x="548640" y="1965960"/>
            <a:ext cx="530352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들여쓰기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중괄호 안은 스페이스 4칸(또는 탭 1번) 안쪽으로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548640" y="3291840"/>
            <a:ext cx="530352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4290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대소문자 구분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8404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Main, COUT은 오류. C++는 대소문자를 다르게 봄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548640" y="4617720"/>
            <a:ext cx="530352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47548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주석 달기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1663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"무엇을"보다 "왜" 그렇게 했는지를 적기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217920" y="1325880"/>
            <a:ext cx="5394960" cy="4663440"/>
          </a:xfrm>
          <a:prstGeom prst="roundRect">
            <a:avLst>
              <a:gd name="adj" fmla="val 2353"/>
            </a:avLst>
          </a:prstGeom>
          <a:solidFill>
            <a:schemeClr val="tx1"/>
          </a:solidFill>
          <a:ln/>
        </p:spPr>
      </p:sp>
      <p:sp>
        <p:nvSpPr>
          <p:cNvPr id="14" name="icon-bg"/>
          <p:cNvSpPr/>
          <p:nvPr/>
        </p:nvSpPr>
        <p:spPr>
          <a:xfrm>
            <a:off x="6492240" y="1600200"/>
            <a:ext cx="731520" cy="731520"/>
          </a:xfrm>
          <a:prstGeom prst="ellipse">
            <a:avLst/>
          </a:prstGeom>
          <a:solidFill>
            <a:srgbClr val="E8833A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783080"/>
            <a:ext cx="365760" cy="36576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7360920" y="16459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직접 해 보기: 일부러 틀려 보기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49224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6995160" y="26060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세미콜론(;)을 지운다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995160" y="30175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1DC"/>
                </a:solidFill>
              </a:rPr>
              <a:t>→ 컴파일 오류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4922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2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6995160" y="36576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#include &lt;iostream&gt;을 지운다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6995160" y="40690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1DC"/>
                </a:solidFill>
              </a:rPr>
              <a:t>→ 컴파일 오류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49224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3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6995160" y="47091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main을 Main으로 바꾼다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6995160" y="51206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1DC"/>
                </a:solidFill>
              </a:rPr>
              <a:t>→ 링크 오류 (1.2절 표와 비교)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0116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정리</a:t>
            </a:r>
            <a:endParaRPr lang="en-US" sz="2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핵심 정리와 연습문제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핵심 정리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417320"/>
            <a:ext cx="53492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4" name="icon-bg"/>
          <p:cNvSpPr/>
          <p:nvPr/>
        </p:nvSpPr>
        <p:spPr>
          <a:xfrm>
            <a:off x="822960" y="1709928"/>
            <a:ext cx="731520" cy="731520"/>
          </a:xfrm>
          <a:prstGeom prst="ellipse">
            <a:avLst/>
          </a:prstGeom>
          <a:solidFill>
            <a:srgbClr val="E8833A"/>
          </a:solidFill>
          <a:ln/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92808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417320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C++는 1979년 C를 바탕으로 개발된 빠르고 다재다능한 언어</a:t>
            </a:r>
            <a:endParaRPr lang="en-US" sz="1600" dirty="0"/>
          </a:p>
        </p:txBody>
      </p:sp>
      <p:sp>
        <p:nvSpPr>
          <p:cNvPr id="7" name="card"/>
          <p:cNvSpPr/>
          <p:nvPr/>
        </p:nvSpPr>
        <p:spPr>
          <a:xfrm>
            <a:off x="6126480" y="1417320"/>
            <a:ext cx="53492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8" name="icon-bg"/>
          <p:cNvSpPr/>
          <p:nvPr/>
        </p:nvSpPr>
        <p:spPr>
          <a:xfrm>
            <a:off x="6400800" y="1709928"/>
            <a:ext cx="731520" cy="731520"/>
          </a:xfrm>
          <a:prstGeom prst="ellipse">
            <a:avLst/>
          </a:prstGeom>
          <a:solidFill>
            <a:srgbClr val="2F8F83"/>
          </a:solidFill>
          <a:ln/>
        </p:spPr>
      </p:sp>
      <p:pic>
        <p:nvPicPr>
          <p:cNvPr id="9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9280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360920" y="1417320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표준은 2011년부터 약 3년마다 갱신, 교재는 C++20 기준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548640" y="2971800"/>
            <a:ext cx="53492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2" name="icon-bg"/>
          <p:cNvSpPr/>
          <p:nvPr/>
        </p:nvSpPr>
        <p:spPr>
          <a:xfrm>
            <a:off x="822960" y="3264408"/>
            <a:ext cx="731520" cy="731520"/>
          </a:xfrm>
          <a:prstGeom prst="ellipse">
            <a:avLst/>
          </a:prstGeom>
          <a:solidFill>
            <a:srgbClr val="E8833A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447288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783080" y="2971800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전처리 → 컴파일 → 어셈블 → 링크를 거쳐 실행 파일 완성</a:t>
            </a:r>
            <a:endParaRPr lang="en-US" sz="1600" dirty="0"/>
          </a:p>
        </p:txBody>
      </p:sp>
      <p:sp>
        <p:nvSpPr>
          <p:cNvPr id="15" name="card"/>
          <p:cNvSpPr/>
          <p:nvPr/>
        </p:nvSpPr>
        <p:spPr>
          <a:xfrm>
            <a:off x="6126480" y="2971800"/>
            <a:ext cx="53492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6" name="icon-bg"/>
          <p:cNvSpPr/>
          <p:nvPr/>
        </p:nvSpPr>
        <p:spPr>
          <a:xfrm>
            <a:off x="6400800" y="3264408"/>
            <a:ext cx="731520" cy="731520"/>
          </a:xfrm>
          <a:prstGeom prst="ellipse">
            <a:avLst/>
          </a:prstGeom>
          <a:solidFill>
            <a:srgbClr val="2F8F83"/>
          </a:solidFill>
          <a:ln/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447288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360920" y="2971800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컴파일러(MSVC·GCC·Clang)와 편집기·IDE가 필요</a:t>
            </a:r>
            <a:endParaRPr lang="en-US" sz="1600" dirty="0"/>
          </a:p>
        </p:txBody>
      </p:sp>
      <p:sp>
        <p:nvSpPr>
          <p:cNvPr id="19" name="card"/>
          <p:cNvSpPr/>
          <p:nvPr/>
        </p:nvSpPr>
        <p:spPr>
          <a:xfrm>
            <a:off x="548640" y="4526280"/>
            <a:ext cx="53492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20" name="icon-bg"/>
          <p:cNvSpPr/>
          <p:nvPr/>
        </p:nvSpPr>
        <p:spPr>
          <a:xfrm>
            <a:off x="822960" y="4818888"/>
            <a:ext cx="731520" cy="731520"/>
          </a:xfrm>
          <a:prstGeom prst="ellipse">
            <a:avLst/>
          </a:prstGeom>
          <a:solidFill>
            <a:srgbClr val="E8833A"/>
          </a:solidFill>
          <a:ln/>
        </p:spPr>
      </p:sp>
      <p:pic>
        <p:nvPicPr>
          <p:cNvPr id="21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5001768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783080" y="4526280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모든 프로그램은 main에서 시작, std::cout으로 출력</a:t>
            </a:r>
            <a:endParaRPr lang="en-US" sz="1600" dirty="0"/>
          </a:p>
        </p:txBody>
      </p:sp>
      <p:sp>
        <p:nvSpPr>
          <p:cNvPr id="23" name="card"/>
          <p:cNvSpPr/>
          <p:nvPr/>
        </p:nvSpPr>
        <p:spPr>
          <a:xfrm>
            <a:off x="6126480" y="4526280"/>
            <a:ext cx="53492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24" name="icon-bg"/>
          <p:cNvSpPr/>
          <p:nvPr/>
        </p:nvSpPr>
        <p:spPr>
          <a:xfrm>
            <a:off x="6400800" y="4818888"/>
            <a:ext cx="731520" cy="731520"/>
          </a:xfrm>
          <a:prstGeom prst="ellipse">
            <a:avLst/>
          </a:prstGeom>
          <a:solidFill>
            <a:srgbClr val="2F8F83"/>
          </a:solidFill>
          <a:ln/>
        </p:spPr>
      </p:sp>
      <p:pic>
        <p:nvPicPr>
          <p:cNvPr id="25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5001768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360920" y="4526280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문장 끝 세미콜론(;), 대소문자 구분에 주의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확인 문제와 프로그래밍 과제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확인 문제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577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C++라는 이름에서 ++가 뜻하는 것은?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소스 코드가 실행 파일이 되는 4단계를 순서대로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#include &lt;iostream&gt;은 어느 단계에서 처리될까?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컴파일 오류와 링크 오류의 차이는?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main 함수의 역할은?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std::cout에서 std::는 무엇을 뜻할까?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5720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7. 잘못된 곳 두 군데를 찾아 고치세요.</a:t>
            </a:r>
            <a:endParaRPr lang="en-US" sz="1500" dirty="0"/>
          </a:p>
        </p:txBody>
      </p:sp>
      <p:sp>
        <p:nvSpPr>
          <p:cNvPr id="6" name="code-bg"/>
          <p:cNvSpPr/>
          <p:nvPr/>
        </p:nvSpPr>
        <p:spPr>
          <a:xfrm>
            <a:off x="548640" y="4983480"/>
            <a:ext cx="5577840" cy="11430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sp>
        <p:nvSpPr>
          <p:cNvPr id="7" name="code"/>
          <p:cNvSpPr txBox="1"/>
          <p:nvPr/>
        </p:nvSpPr>
        <p:spPr>
          <a:xfrm>
            <a:off x="822960" y="52120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std::cout &lt;&lt;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"안녕하세요"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std::endl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std::Cout &lt;&lt;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"반갑습니다"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std::endl;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6492240" y="1280160"/>
            <a:ext cx="512064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766560" y="1463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프로그래밍 과제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201168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자기소개: 이름, 학과, 좋아하는 음식을 각각 다른 줄에 출력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std::cout을 여러 번 써서 별(*) 삼각형 출력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(도전) std::endl 대신 "\n"으로 다시 작성하고 결과 비교</a:t>
            </a:r>
            <a:endParaRPr lang="en-US" sz="1500" dirty="0"/>
          </a:p>
        </p:txBody>
      </p:sp>
      <p:sp>
        <p:nvSpPr>
          <p:cNvPr id="11" name="code-bg"/>
          <p:cNvSpPr/>
          <p:nvPr/>
        </p:nvSpPr>
        <p:spPr>
          <a:xfrm>
            <a:off x="6766560" y="4297680"/>
            <a:ext cx="2011680" cy="1600200"/>
          </a:xfrm>
          <a:prstGeom prst="roundRect">
            <a:avLst>
              <a:gd name="adj" fmla="val 5714"/>
            </a:avLst>
          </a:prstGeom>
          <a:solidFill>
            <a:schemeClr val="tx1"/>
          </a:solidFill>
          <a:ln/>
        </p:spPr>
      </p:sp>
      <p:sp>
        <p:nvSpPr>
          <p:cNvPr id="12" name="code"/>
          <p:cNvSpPr txBox="1"/>
          <p:nvPr/>
        </p:nvSpPr>
        <p:spPr>
          <a:xfrm>
            <a:off x="7040880" y="452628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****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다음 장 미리 보기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2장 기본 문법: 값을 저장하는 변수, 값의 종류인 자료형, 계산하는 연산자. 키보드로 값을 입력받아 계산 결과를 출력하는 프로그램을 만듭니다.</a:t>
            </a:r>
            <a:endParaRPr lang="en-US" sz="2000" dirty="0"/>
          </a:p>
        </p:txBody>
      </p:sp>
      <p:sp>
        <p:nvSpPr>
          <p:cNvPr id="4" name="motif"/>
          <p:cNvSpPr txBox="1"/>
          <p:nvPr/>
        </p:nvSpPr>
        <p:spPr>
          <a:xfrm>
            <a:off x="73152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8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</a:t>
            </a:r>
            <a:pPr indent="0" marL="0">
              <a:buNone/>
            </a:pPr>
            <a:r>
              <a:rPr lang="en-US" sz="200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PP Lecture">
  <a:themeElements>
    <a:clrScheme name="CPP Lecture">
      <a:dk1>
        <a:srgbClr val="1C2430"/>
      </a:dk1>
      <a:lt1>
        <a:srgbClr val="FFFFFF"/>
      </a:lt1>
      <a:dk2>
        <a:srgbClr val="3A4656"/>
      </a:dk2>
      <a:lt2>
        <a:srgbClr val="EEF1F5"/>
      </a:lt2>
      <a:accent1>
        <a:srgbClr val="E8833A"/>
      </a:accent1>
      <a:accent2>
        <a:srgbClr val="2F8F83"/>
      </a:accent2>
      <a:accent3>
        <a:srgbClr val="6B5CA5"/>
      </a:accent3>
      <a:accent4>
        <a:srgbClr val="D9A441"/>
      </a:accent4>
      <a:accent5>
        <a:srgbClr val="8A96A8"/>
      </a:accent5>
      <a:accent6>
        <a:srgbClr val="C2453D"/>
      </a:accent6>
      <a:hlink>
        <a:srgbClr val="2F8F83"/>
      </a:hlink>
      <a:folHlink>
        <a:srgbClr val="6B5CA5"/>
      </a:folHlink>
    </a:clrScheme>
    <a:fontScheme name="CPP Lectur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C++ 1장. C++ 개요와 개발 환경</dc:title>
  <dc:subject>PptxGenJS Presentation</dc:subject>
  <dc:creator>Kyungho Hong</dc:creator>
  <cp:lastModifiedBy>Kyungho Hong</cp:lastModifiedBy>
  <cp:revision>1</cp:revision>
  <dcterms:created xsi:type="dcterms:W3CDTF">2026-10-02T12:33:09Z</dcterms:created>
  <dcterms:modified xsi:type="dcterms:W3CDTF">2026-10-02T12:33:09Z</dcterms:modified>
</cp:coreProperties>
</file>